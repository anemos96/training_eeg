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38" d="100"/>
          <a:sy n="38" d="100"/>
        </p:scale>
        <p:origin x="5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7147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509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7652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347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62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860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1890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42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51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8372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182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D769AA-33A0-4FC3-B5CD-1A7645E8D76F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4A4E270-63EC-44ED-B81C-9C462A3455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906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0DFCDE-0739-AA24-264C-8359FB3FCB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3 – From </a:t>
            </a:r>
            <a:r>
              <a:rPr lang="it-IT" dirty="0" err="1"/>
              <a:t>Waveforms</a:t>
            </a:r>
            <a:r>
              <a:rPr lang="it-IT" dirty="0"/>
              <a:t> to </a:t>
            </a:r>
            <a:r>
              <a:rPr lang="it-IT" dirty="0" err="1"/>
              <a:t>oscillations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A81BC31-89A3-E10E-0C09-0F867A283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035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BBA5D3-66CE-AA21-35D5-127C4BD5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Why</a:t>
            </a:r>
            <a:r>
              <a:rPr lang="it-IT" dirty="0"/>
              <a:t> Frequencies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B990CC-105B-48A9-A8C2-F21C4F4C3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ERP </a:t>
            </a:r>
            <a:r>
              <a:rPr lang="it-IT" dirty="0" err="1"/>
              <a:t>analysis</a:t>
            </a:r>
            <a:r>
              <a:rPr lang="it-IT" dirty="0"/>
              <a:t> </a:t>
            </a:r>
            <a:r>
              <a:rPr lang="it-IT" dirty="0" err="1"/>
              <a:t>treats</a:t>
            </a:r>
            <a:r>
              <a:rPr lang="it-IT" dirty="0"/>
              <a:t> the </a:t>
            </a:r>
            <a:r>
              <a:rPr lang="it-IT" dirty="0" err="1"/>
              <a:t>signal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series</a:t>
            </a:r>
            <a:r>
              <a:rPr lang="it-IT" dirty="0"/>
              <a:t> of positive and negative </a:t>
            </a:r>
            <a:r>
              <a:rPr lang="it-IT" dirty="0" err="1"/>
              <a:t>peaks</a:t>
            </a:r>
            <a:r>
              <a:rPr lang="it-IT" dirty="0"/>
              <a:t> over time. Frequency </a:t>
            </a:r>
            <a:r>
              <a:rPr lang="it-IT" dirty="0" err="1"/>
              <a:t>analysis</a:t>
            </a:r>
            <a:r>
              <a:rPr lang="it-IT" dirty="0"/>
              <a:t> </a:t>
            </a:r>
            <a:r>
              <a:rPr lang="it-IT" dirty="0" err="1"/>
              <a:t>extracts</a:t>
            </a:r>
            <a:r>
              <a:rPr lang="it-IT" dirty="0"/>
              <a:t> the </a:t>
            </a:r>
            <a:r>
              <a:rPr lang="it-IT" dirty="0" err="1"/>
              <a:t>rhythmic</a:t>
            </a:r>
            <a:r>
              <a:rPr lang="it-IT" dirty="0"/>
              <a:t> patterns from the data, and </a:t>
            </a:r>
            <a:r>
              <a:rPr lang="it-IT" dirty="0" err="1"/>
              <a:t>calculates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power </a:t>
            </a:r>
            <a:r>
              <a:rPr lang="it-IT" dirty="0" err="1"/>
              <a:t>change</a:t>
            </a:r>
            <a:r>
              <a:rPr lang="it-IT" dirty="0"/>
              <a:t> relative to events. </a:t>
            </a:r>
          </a:p>
          <a:p>
            <a:r>
              <a:rPr lang="it-IT" dirty="0"/>
              <a:t>Delta (1 - 4 Hz): Deep </a:t>
            </a:r>
            <a:r>
              <a:rPr lang="it-IT" dirty="0" err="1"/>
              <a:t>sleep</a:t>
            </a:r>
            <a:r>
              <a:rPr lang="it-IT" dirty="0"/>
              <a:t>, slow </a:t>
            </a:r>
            <a:r>
              <a:rPr lang="it-IT" dirty="0" err="1"/>
              <a:t>cortical</a:t>
            </a:r>
            <a:r>
              <a:rPr lang="it-IT" dirty="0"/>
              <a:t> </a:t>
            </a:r>
            <a:r>
              <a:rPr lang="it-IT" dirty="0" err="1"/>
              <a:t>potentials</a:t>
            </a:r>
            <a:endParaRPr lang="it-IT" dirty="0"/>
          </a:p>
          <a:p>
            <a:r>
              <a:rPr lang="it-IT" dirty="0"/>
              <a:t>Theta (4 – 8 Hz): Working </a:t>
            </a:r>
            <a:r>
              <a:rPr lang="it-IT" dirty="0" err="1"/>
              <a:t>memory</a:t>
            </a:r>
            <a:r>
              <a:rPr lang="it-IT" dirty="0"/>
              <a:t>, cognitive </a:t>
            </a:r>
            <a:r>
              <a:rPr lang="it-IT" dirty="0" err="1"/>
              <a:t>effort</a:t>
            </a:r>
            <a:endParaRPr lang="it-IT" dirty="0"/>
          </a:p>
          <a:p>
            <a:r>
              <a:rPr lang="it-IT" dirty="0"/>
              <a:t>Alpha (8 – 13 Hz):  </a:t>
            </a:r>
            <a:r>
              <a:rPr lang="it-IT" dirty="0" err="1"/>
              <a:t>Cortical</a:t>
            </a:r>
            <a:r>
              <a:rPr lang="it-IT" dirty="0"/>
              <a:t> </a:t>
            </a:r>
            <a:r>
              <a:rPr lang="it-IT" dirty="0" err="1"/>
              <a:t>idling</a:t>
            </a:r>
            <a:endParaRPr lang="it-IT" dirty="0"/>
          </a:p>
          <a:p>
            <a:r>
              <a:rPr lang="it-IT" dirty="0"/>
              <a:t>Beta: (13 – 30 Hz):  Motor </a:t>
            </a:r>
            <a:r>
              <a:rPr lang="it-IT" dirty="0" err="1"/>
              <a:t>readiness</a:t>
            </a:r>
            <a:r>
              <a:rPr lang="it-IT" dirty="0"/>
              <a:t>, </a:t>
            </a:r>
            <a:r>
              <a:rPr lang="it-IT" dirty="0" err="1"/>
              <a:t>active</a:t>
            </a:r>
            <a:r>
              <a:rPr lang="it-IT" dirty="0"/>
              <a:t> </a:t>
            </a:r>
            <a:r>
              <a:rPr lang="it-IT" dirty="0" err="1"/>
              <a:t>cognition</a:t>
            </a:r>
            <a:endParaRPr lang="it-IT" dirty="0"/>
          </a:p>
          <a:p>
            <a:r>
              <a:rPr lang="it-IT" dirty="0"/>
              <a:t>Gamma (30 -80 Hz): </a:t>
            </a:r>
            <a:r>
              <a:rPr lang="it-IT" dirty="0" err="1"/>
              <a:t>Conscious</a:t>
            </a:r>
            <a:r>
              <a:rPr lang="it-IT" dirty="0"/>
              <a:t> </a:t>
            </a:r>
            <a:r>
              <a:rPr lang="it-IT" dirty="0" err="1"/>
              <a:t>perception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444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B86266-EFBE-5D15-7ABD-C90A1E8E3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Fourier </a:t>
            </a:r>
            <a:r>
              <a:rPr lang="it-IT" dirty="0" err="1"/>
              <a:t>Transform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F9A05C-952D-CEC7-11A0-4BC7E7783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Core Idea: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signal</a:t>
            </a:r>
            <a:r>
              <a:rPr lang="it-IT" dirty="0"/>
              <a:t> can be </a:t>
            </a:r>
            <a:r>
              <a:rPr lang="it-IT" dirty="0" err="1"/>
              <a:t>decomposed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 sum of </a:t>
            </a:r>
            <a:r>
              <a:rPr lang="it-IT" dirty="0" err="1"/>
              <a:t>simple</a:t>
            </a:r>
            <a:r>
              <a:rPr lang="it-IT" dirty="0"/>
              <a:t> sine </a:t>
            </a:r>
            <a:r>
              <a:rPr lang="it-IT" dirty="0" err="1"/>
              <a:t>waves</a:t>
            </a:r>
            <a:r>
              <a:rPr lang="it-IT" dirty="0"/>
              <a:t> of </a:t>
            </a:r>
            <a:r>
              <a:rPr lang="it-IT" dirty="0" err="1"/>
              <a:t>different</a:t>
            </a:r>
            <a:r>
              <a:rPr lang="it-IT" dirty="0"/>
              <a:t> frequencies, </a:t>
            </a:r>
            <a:r>
              <a:rPr lang="it-IT" dirty="0" err="1"/>
              <a:t>amplitudes</a:t>
            </a:r>
            <a:r>
              <a:rPr lang="it-IT" dirty="0"/>
              <a:t> and </a:t>
            </a:r>
            <a:r>
              <a:rPr lang="it-IT" dirty="0" err="1"/>
              <a:t>phases</a:t>
            </a:r>
            <a:r>
              <a:rPr lang="it-IT" dirty="0"/>
              <a:t>. </a:t>
            </a:r>
          </a:p>
          <a:p>
            <a:pPr lvl="1"/>
            <a:r>
              <a:rPr lang="it-IT" dirty="0"/>
              <a:t>Power </a:t>
            </a:r>
            <a:r>
              <a:rPr lang="it-IT" dirty="0" err="1"/>
              <a:t>Spectrum</a:t>
            </a:r>
            <a:r>
              <a:rPr lang="it-IT" dirty="0"/>
              <a:t>: </a:t>
            </a:r>
            <a:r>
              <a:rPr lang="it-IT" dirty="0" err="1"/>
              <a:t>Showst</a:t>
            </a:r>
            <a:r>
              <a:rPr lang="it-IT" dirty="0"/>
              <a:t> the </a:t>
            </a:r>
            <a:r>
              <a:rPr lang="it-IT" dirty="0" err="1"/>
              <a:t>average</a:t>
            </a:r>
            <a:r>
              <a:rPr lang="it-IT" dirty="0"/>
              <a:t> power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frequency </a:t>
            </a:r>
            <a:r>
              <a:rPr lang="it-IT" dirty="0" err="1"/>
              <a:t>across</a:t>
            </a:r>
            <a:r>
              <a:rPr lang="it-IT" dirty="0"/>
              <a:t> the </a:t>
            </a:r>
            <a:r>
              <a:rPr lang="it-IT" dirty="0" err="1"/>
              <a:t>entire</a:t>
            </a:r>
            <a:r>
              <a:rPr lang="it-IT" dirty="0"/>
              <a:t> recording</a:t>
            </a:r>
          </a:p>
          <a:p>
            <a:pPr lvl="1"/>
            <a:r>
              <a:rPr lang="it-IT" dirty="0" err="1"/>
              <a:t>Stationarity</a:t>
            </a:r>
            <a:r>
              <a:rPr lang="it-IT" dirty="0"/>
              <a:t> </a:t>
            </a:r>
            <a:r>
              <a:rPr lang="it-IT" dirty="0" err="1"/>
              <a:t>Assumption</a:t>
            </a:r>
            <a:r>
              <a:rPr lang="it-IT" dirty="0"/>
              <a:t>: FFT </a:t>
            </a:r>
            <a:r>
              <a:rPr lang="it-IT" dirty="0" err="1"/>
              <a:t>assumes</a:t>
            </a:r>
            <a:r>
              <a:rPr lang="it-IT" dirty="0"/>
              <a:t> the </a:t>
            </a:r>
            <a:r>
              <a:rPr lang="it-IT" dirty="0" err="1"/>
              <a:t>signal’s</a:t>
            </a:r>
            <a:r>
              <a:rPr lang="it-IT" dirty="0"/>
              <a:t> </a:t>
            </a:r>
            <a:r>
              <a:rPr lang="it-IT" dirty="0" err="1"/>
              <a:t>statistical</a:t>
            </a:r>
            <a:r>
              <a:rPr lang="it-IT" dirty="0"/>
              <a:t> </a:t>
            </a:r>
            <a:r>
              <a:rPr lang="it-IT" dirty="0" err="1"/>
              <a:t>properties</a:t>
            </a:r>
            <a:r>
              <a:rPr lang="it-IT" dirty="0"/>
              <a:t>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change</a:t>
            </a:r>
            <a:r>
              <a:rPr lang="it-IT" dirty="0"/>
              <a:t> over time. </a:t>
            </a:r>
          </a:p>
          <a:p>
            <a:pPr lvl="1"/>
            <a:r>
              <a:rPr lang="it-IT" dirty="0" err="1"/>
              <a:t>Spectral</a:t>
            </a:r>
            <a:r>
              <a:rPr lang="it-IT" dirty="0"/>
              <a:t> leakage: </a:t>
            </a:r>
            <a:r>
              <a:rPr lang="it-IT" dirty="0" err="1"/>
              <a:t>If</a:t>
            </a:r>
            <a:r>
              <a:rPr lang="it-IT" dirty="0"/>
              <a:t> the </a:t>
            </a:r>
            <a:r>
              <a:rPr lang="it-IT" dirty="0" err="1"/>
              <a:t>analyzed</a:t>
            </a:r>
            <a:r>
              <a:rPr lang="it-IT" dirty="0"/>
              <a:t> </a:t>
            </a:r>
            <a:r>
              <a:rPr lang="it-IT" dirty="0" err="1"/>
              <a:t>segment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contain</a:t>
            </a:r>
            <a:r>
              <a:rPr lang="it-IT" dirty="0"/>
              <a:t> </a:t>
            </a:r>
            <a:r>
              <a:rPr lang="it-IT" dirty="0" err="1"/>
              <a:t>whole</a:t>
            </a:r>
            <a:r>
              <a:rPr lang="it-IT" dirty="0"/>
              <a:t> </a:t>
            </a:r>
            <a:r>
              <a:rPr lang="it-IT" dirty="0" err="1"/>
              <a:t>cycles</a:t>
            </a:r>
            <a:r>
              <a:rPr lang="it-IT" dirty="0"/>
              <a:t> of a </a:t>
            </a:r>
            <a:r>
              <a:rPr lang="it-IT" dirty="0" err="1"/>
              <a:t>given</a:t>
            </a:r>
            <a:r>
              <a:rPr lang="it-IT" dirty="0"/>
              <a:t> frequency, energy leaks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adjacent</a:t>
            </a:r>
            <a:r>
              <a:rPr lang="it-IT" dirty="0"/>
              <a:t> frequency. </a:t>
            </a:r>
          </a:p>
        </p:txBody>
      </p:sp>
    </p:spTree>
    <p:extLst>
      <p:ext uri="{BB962C8B-B14F-4D97-AF65-F5344CB8AC3E}">
        <p14:creationId xmlns:p14="http://schemas.microsoft.com/office/powerpoint/2010/main" val="289579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5FCFF7-6D69-9EC2-3EA0-9746CAF38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Time-frequency </a:t>
            </a:r>
            <a:r>
              <a:rPr lang="it-IT" dirty="0" err="1"/>
              <a:t>analysis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4B8A5F-9DEE-A7DB-E73C-B3740F601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474889"/>
          </a:xfrm>
        </p:spPr>
        <p:txBody>
          <a:bodyPr/>
          <a:lstStyle/>
          <a:p>
            <a:r>
              <a:rPr lang="it-IT" dirty="0"/>
              <a:t>Short-Time Fourier </a:t>
            </a:r>
            <a:r>
              <a:rPr lang="it-IT" dirty="0" err="1"/>
              <a:t>Transform</a:t>
            </a:r>
            <a:r>
              <a:rPr lang="it-IT" dirty="0"/>
              <a:t>: Slide a fix window </a:t>
            </a:r>
            <a:r>
              <a:rPr lang="it-IT" dirty="0" err="1"/>
              <a:t>across</a:t>
            </a:r>
            <a:r>
              <a:rPr lang="it-IT" dirty="0"/>
              <a:t> the </a:t>
            </a:r>
            <a:r>
              <a:rPr lang="it-IT" dirty="0" err="1"/>
              <a:t>signal</a:t>
            </a:r>
            <a:r>
              <a:rPr lang="it-IT" dirty="0"/>
              <a:t> and </a:t>
            </a:r>
            <a:r>
              <a:rPr lang="it-IT" dirty="0" err="1"/>
              <a:t>computes</a:t>
            </a:r>
            <a:r>
              <a:rPr lang="it-IT" dirty="0"/>
              <a:t> FFT in </a:t>
            </a:r>
            <a:r>
              <a:rPr lang="it-IT" dirty="0" err="1"/>
              <a:t>each</a:t>
            </a:r>
            <a:r>
              <a:rPr lang="it-IT" dirty="0"/>
              <a:t> window. Time and frequency </a:t>
            </a:r>
            <a:r>
              <a:rPr lang="it-IT" dirty="0" err="1"/>
              <a:t>resolution</a:t>
            </a:r>
            <a:r>
              <a:rPr lang="it-IT" dirty="0"/>
              <a:t> are </a:t>
            </a:r>
            <a:r>
              <a:rPr lang="it-IT" dirty="0" err="1"/>
              <a:t>fixed</a:t>
            </a:r>
            <a:r>
              <a:rPr lang="it-IT" dirty="0"/>
              <a:t> and </a:t>
            </a:r>
            <a:r>
              <a:rPr lang="it-IT" dirty="0" err="1"/>
              <a:t>depend</a:t>
            </a:r>
            <a:r>
              <a:rPr lang="it-IT" dirty="0"/>
              <a:t> on the window size (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cannot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high time and high frequency </a:t>
            </a:r>
            <a:r>
              <a:rPr lang="it-IT" dirty="0" err="1"/>
              <a:t>resolution</a:t>
            </a:r>
            <a:r>
              <a:rPr lang="it-IT" dirty="0"/>
              <a:t> </a:t>
            </a:r>
            <a:r>
              <a:rPr lang="it-IT" dirty="0" err="1"/>
              <a:t>simultaneously</a:t>
            </a:r>
            <a:r>
              <a:rPr lang="it-IT" dirty="0"/>
              <a:t>). </a:t>
            </a:r>
          </a:p>
          <a:p>
            <a:r>
              <a:rPr lang="it-IT" dirty="0" err="1"/>
              <a:t>Wavelet</a:t>
            </a:r>
            <a:r>
              <a:rPr lang="it-IT" dirty="0"/>
              <a:t> </a:t>
            </a:r>
            <a:r>
              <a:rPr lang="it-IT" dirty="0" err="1"/>
              <a:t>Convolution</a:t>
            </a:r>
            <a:r>
              <a:rPr lang="it-IT" dirty="0"/>
              <a:t> (</a:t>
            </a:r>
            <a:r>
              <a:rPr lang="it-IT" dirty="0" err="1"/>
              <a:t>Morlet</a:t>
            </a:r>
            <a:r>
              <a:rPr lang="it-IT" dirty="0"/>
              <a:t> </a:t>
            </a:r>
            <a:r>
              <a:rPr lang="it-IT" dirty="0" err="1"/>
              <a:t>wavelets</a:t>
            </a:r>
            <a:r>
              <a:rPr lang="it-IT" dirty="0"/>
              <a:t>): Convolve the </a:t>
            </a:r>
            <a:r>
              <a:rPr lang="it-IT" dirty="0" err="1"/>
              <a:t>signal</a:t>
            </a:r>
            <a:r>
              <a:rPr lang="it-IT" dirty="0"/>
              <a:t> with </a:t>
            </a:r>
            <a:r>
              <a:rPr lang="it-IT" dirty="0" err="1"/>
              <a:t>wavelets</a:t>
            </a:r>
            <a:r>
              <a:rPr lang="it-IT" dirty="0"/>
              <a:t> (sine </a:t>
            </a:r>
            <a:r>
              <a:rPr lang="it-IT" dirty="0" err="1"/>
              <a:t>wave</a:t>
            </a:r>
            <a:r>
              <a:rPr lang="it-IT" dirty="0"/>
              <a:t> </a:t>
            </a:r>
            <a:r>
              <a:rPr lang="it-IT" dirty="0" err="1"/>
              <a:t>tapered</a:t>
            </a:r>
            <a:r>
              <a:rPr lang="it-IT" dirty="0"/>
              <a:t> by a </a:t>
            </a:r>
            <a:r>
              <a:rPr lang="it-IT" dirty="0" err="1"/>
              <a:t>Gaussian</a:t>
            </a:r>
            <a:r>
              <a:rPr lang="it-IT" dirty="0"/>
              <a:t> </a:t>
            </a:r>
            <a:r>
              <a:rPr lang="it-IT" dirty="0" err="1"/>
              <a:t>envelope</a:t>
            </a:r>
            <a:r>
              <a:rPr lang="it-IT" dirty="0"/>
              <a:t>). At high frequencies the </a:t>
            </a:r>
            <a:r>
              <a:rPr lang="it-IT" dirty="0" err="1"/>
              <a:t>wavelets</a:t>
            </a:r>
            <a:r>
              <a:rPr lang="it-IT" dirty="0"/>
              <a:t> are </a:t>
            </a:r>
            <a:r>
              <a:rPr lang="it-IT" dirty="0" err="1"/>
              <a:t>narrow</a:t>
            </a:r>
            <a:r>
              <a:rPr lang="it-IT" dirty="0"/>
              <a:t> (good time </a:t>
            </a:r>
            <a:r>
              <a:rPr lang="it-IT" dirty="0" err="1"/>
              <a:t>resolution</a:t>
            </a:r>
            <a:r>
              <a:rPr lang="it-IT" dirty="0"/>
              <a:t>),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low frequency </a:t>
            </a:r>
            <a:r>
              <a:rPr lang="it-IT" dirty="0" err="1"/>
              <a:t>they</a:t>
            </a:r>
            <a:r>
              <a:rPr lang="it-IT" dirty="0"/>
              <a:t> are wide (good </a:t>
            </a:r>
            <a:r>
              <a:rPr lang="it-IT" dirty="0" err="1"/>
              <a:t>temporal</a:t>
            </a:r>
            <a:r>
              <a:rPr lang="it-IT" dirty="0"/>
              <a:t> </a:t>
            </a:r>
            <a:r>
              <a:rPr lang="it-IT" dirty="0" err="1"/>
              <a:t>resolution</a:t>
            </a:r>
            <a:r>
              <a:rPr lang="it-IT" dirty="0"/>
              <a:t>)</a:t>
            </a:r>
          </a:p>
          <a:p>
            <a:r>
              <a:rPr lang="it-IT" dirty="0"/>
              <a:t>Hilbert </a:t>
            </a:r>
            <a:r>
              <a:rPr lang="it-IT" dirty="0" err="1"/>
              <a:t>Transform</a:t>
            </a:r>
            <a:r>
              <a:rPr lang="it-IT" dirty="0"/>
              <a:t>: </a:t>
            </a:r>
            <a:r>
              <a:rPr lang="it-IT" dirty="0" err="1"/>
              <a:t>Instantenous</a:t>
            </a:r>
            <a:r>
              <a:rPr lang="it-IT" dirty="0"/>
              <a:t> </a:t>
            </a:r>
            <a:r>
              <a:rPr lang="it-IT" dirty="0" err="1"/>
              <a:t>aplitude</a:t>
            </a:r>
            <a:r>
              <a:rPr lang="it-IT" dirty="0"/>
              <a:t> and </a:t>
            </a:r>
            <a:r>
              <a:rPr lang="it-IT" dirty="0" err="1"/>
              <a:t>phase</a:t>
            </a:r>
            <a:r>
              <a:rPr lang="it-IT" dirty="0"/>
              <a:t> are </a:t>
            </a:r>
            <a:r>
              <a:rPr lang="it-IT" dirty="0" err="1"/>
              <a:t>extracted</a:t>
            </a:r>
            <a:r>
              <a:rPr lang="it-IT" dirty="0"/>
              <a:t> after band-pass filtering to a </a:t>
            </a:r>
            <a:r>
              <a:rPr lang="it-IT" dirty="0" err="1"/>
              <a:t>narrow</a:t>
            </a:r>
            <a:r>
              <a:rPr lang="it-IT" dirty="0"/>
              <a:t> frequency band. </a:t>
            </a:r>
            <a:r>
              <a:rPr lang="it-IT" dirty="0" err="1"/>
              <a:t>Needs</a:t>
            </a:r>
            <a:r>
              <a:rPr lang="it-IT" dirty="0"/>
              <a:t> </a:t>
            </a:r>
            <a:r>
              <a:rPr lang="it-IT" dirty="0" err="1"/>
              <a:t>careful</a:t>
            </a:r>
            <a:r>
              <a:rPr lang="it-IT" dirty="0"/>
              <a:t> filter design. </a:t>
            </a:r>
          </a:p>
        </p:txBody>
      </p:sp>
    </p:spTree>
    <p:extLst>
      <p:ext uri="{BB962C8B-B14F-4D97-AF65-F5344CB8AC3E}">
        <p14:creationId xmlns:p14="http://schemas.microsoft.com/office/powerpoint/2010/main" val="138384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54C962-6E30-6166-11C6-9808E511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Event-</a:t>
            </a:r>
            <a:r>
              <a:rPr lang="it-IT" dirty="0" err="1"/>
              <a:t>related</a:t>
            </a:r>
            <a:r>
              <a:rPr lang="it-IT" dirty="0"/>
              <a:t> </a:t>
            </a:r>
            <a:r>
              <a:rPr lang="it-IT" dirty="0" err="1"/>
              <a:t>spectral</a:t>
            </a:r>
            <a:r>
              <a:rPr lang="it-IT" dirty="0"/>
              <a:t> </a:t>
            </a:r>
            <a:r>
              <a:rPr lang="it-IT" dirty="0" err="1"/>
              <a:t>Perturbation</a:t>
            </a:r>
            <a:r>
              <a:rPr lang="it-IT" dirty="0"/>
              <a:t> (ERSP) and Inter-trial </a:t>
            </a:r>
            <a:r>
              <a:rPr lang="it-IT" dirty="0" err="1"/>
              <a:t>coherence</a:t>
            </a:r>
            <a:r>
              <a:rPr lang="it-IT" dirty="0"/>
              <a:t> (ITC)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533C4A-F6CB-82E9-5EA6-549D62850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ERSP </a:t>
            </a:r>
            <a:r>
              <a:rPr lang="it-IT" dirty="0" err="1"/>
              <a:t>measures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the power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frequency </a:t>
            </a:r>
            <a:r>
              <a:rPr lang="it-IT" dirty="0" err="1"/>
              <a:t>changes</a:t>
            </a:r>
            <a:r>
              <a:rPr lang="it-IT" dirty="0"/>
              <a:t> relative to a </a:t>
            </a:r>
            <a:r>
              <a:rPr lang="it-IT" dirty="0" err="1"/>
              <a:t>pre-stimulus</a:t>
            </a:r>
            <a:r>
              <a:rPr lang="it-IT" dirty="0"/>
              <a:t> baseline following an event. Positive </a:t>
            </a:r>
            <a:r>
              <a:rPr lang="it-IT" dirty="0" err="1"/>
              <a:t>values</a:t>
            </a:r>
            <a:r>
              <a:rPr lang="it-IT" dirty="0"/>
              <a:t> indicate power </a:t>
            </a:r>
            <a:r>
              <a:rPr lang="it-IT" dirty="0" err="1"/>
              <a:t>increase</a:t>
            </a:r>
            <a:r>
              <a:rPr lang="it-IT" dirty="0"/>
              <a:t> (</a:t>
            </a:r>
            <a:r>
              <a:rPr lang="it-IT" dirty="0" err="1"/>
              <a:t>synchronization</a:t>
            </a:r>
            <a:r>
              <a:rPr lang="it-IT" dirty="0"/>
              <a:t>), </a:t>
            </a:r>
            <a:r>
              <a:rPr lang="it-IT" dirty="0" err="1"/>
              <a:t>while</a:t>
            </a:r>
            <a:r>
              <a:rPr lang="it-IT" dirty="0"/>
              <a:t> negative </a:t>
            </a:r>
            <a:r>
              <a:rPr lang="it-IT" dirty="0" err="1"/>
              <a:t>values</a:t>
            </a:r>
            <a:r>
              <a:rPr lang="it-IT" dirty="0"/>
              <a:t> indicate power </a:t>
            </a:r>
            <a:r>
              <a:rPr lang="it-IT" dirty="0" err="1"/>
              <a:t>decrease</a:t>
            </a:r>
            <a:r>
              <a:rPr lang="it-IT" dirty="0"/>
              <a:t> (</a:t>
            </a:r>
            <a:r>
              <a:rPr lang="it-IT" dirty="0" err="1"/>
              <a:t>desynchronization</a:t>
            </a:r>
            <a:r>
              <a:rPr lang="it-IT" dirty="0"/>
              <a:t>). </a:t>
            </a:r>
          </a:p>
          <a:p>
            <a:r>
              <a:rPr lang="it-IT" dirty="0"/>
              <a:t>ITC </a:t>
            </a:r>
            <a:r>
              <a:rPr lang="it-IT" dirty="0" err="1"/>
              <a:t>measures</a:t>
            </a:r>
            <a:r>
              <a:rPr lang="it-IT" dirty="0"/>
              <a:t> </a:t>
            </a:r>
            <a:r>
              <a:rPr lang="it-IT" dirty="0" err="1"/>
              <a:t>whether</a:t>
            </a:r>
            <a:r>
              <a:rPr lang="it-IT" dirty="0"/>
              <a:t> the </a:t>
            </a:r>
            <a:r>
              <a:rPr lang="it-IT" dirty="0" err="1"/>
              <a:t>phase</a:t>
            </a:r>
            <a:r>
              <a:rPr lang="it-IT" dirty="0"/>
              <a:t> of an </a:t>
            </a:r>
            <a:r>
              <a:rPr lang="it-IT" dirty="0" err="1"/>
              <a:t>oscillation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consistent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trials </a:t>
            </a:r>
            <a:r>
              <a:rPr lang="it-IT" dirty="0" err="1"/>
              <a:t>ast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time-frequency point. </a:t>
            </a:r>
            <a:r>
              <a:rPr lang="it-IT" dirty="0" err="1"/>
              <a:t>It</a:t>
            </a:r>
            <a:r>
              <a:rPr lang="it-IT" dirty="0"/>
              <a:t> ranges from 0 (random </a:t>
            </a:r>
            <a:r>
              <a:rPr lang="it-IT" dirty="0" err="1"/>
              <a:t>phase</a:t>
            </a:r>
            <a:r>
              <a:rPr lang="it-IT" dirty="0"/>
              <a:t>) to 1 (</a:t>
            </a:r>
            <a:r>
              <a:rPr lang="it-IT" dirty="0" err="1"/>
              <a:t>perfect</a:t>
            </a:r>
            <a:r>
              <a:rPr lang="it-IT" dirty="0"/>
              <a:t> </a:t>
            </a:r>
            <a:r>
              <a:rPr lang="it-IT" dirty="0" err="1"/>
              <a:t>phase</a:t>
            </a:r>
            <a:r>
              <a:rPr lang="it-IT" dirty="0"/>
              <a:t> </a:t>
            </a:r>
            <a:r>
              <a:rPr lang="it-IT" dirty="0" err="1"/>
              <a:t>alignment</a:t>
            </a:r>
            <a:r>
              <a:rPr lang="it-IT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57564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83254F-D861-2CD4-5CEB-310A42C7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Baseline </a:t>
            </a:r>
            <a:r>
              <a:rPr lang="it-IT" dirty="0" err="1"/>
              <a:t>normalization</a:t>
            </a:r>
            <a:r>
              <a:rPr lang="it-IT" dirty="0"/>
              <a:t> in TF </a:t>
            </a:r>
            <a:r>
              <a:rPr lang="it-IT" dirty="0" err="1"/>
              <a:t>analysis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377E25-0EAE-CB8C-57FB-915EF1AE2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Power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frequencies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scales</a:t>
            </a:r>
            <a:r>
              <a:rPr lang="it-IT" dirty="0"/>
              <a:t>. </a:t>
            </a:r>
            <a:r>
              <a:rPr lang="it-IT" dirty="0" err="1"/>
              <a:t>There</a:t>
            </a:r>
            <a:r>
              <a:rPr lang="it-IT" dirty="0"/>
              <a:t> are </a:t>
            </a:r>
            <a:r>
              <a:rPr lang="it-IT" dirty="0" err="1"/>
              <a:t>three</a:t>
            </a:r>
            <a:r>
              <a:rPr lang="it-IT" dirty="0"/>
              <a:t> ways of </a:t>
            </a:r>
            <a:r>
              <a:rPr lang="it-IT" dirty="0" err="1"/>
              <a:t>normalizing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dB </a:t>
            </a:r>
            <a:r>
              <a:rPr lang="it-IT" dirty="0" err="1"/>
              <a:t>Normalization</a:t>
            </a:r>
            <a:r>
              <a:rPr lang="it-IT" dirty="0"/>
              <a:t>: 10 x log</a:t>
            </a:r>
            <a:r>
              <a:rPr lang="it-IT" baseline="-25000" dirty="0"/>
              <a:t>10</a:t>
            </a:r>
            <a:r>
              <a:rPr lang="it-IT" dirty="0"/>
              <a:t>(power / </a:t>
            </a:r>
            <a:r>
              <a:rPr lang="it-IT" dirty="0" err="1"/>
              <a:t>baseline_power</a:t>
            </a:r>
            <a:r>
              <a:rPr lang="it-IT" dirty="0"/>
              <a:t>). </a:t>
            </a:r>
            <a:r>
              <a:rPr lang="it-IT" dirty="0" err="1"/>
              <a:t>Most</a:t>
            </a:r>
            <a:r>
              <a:rPr lang="it-IT" dirty="0"/>
              <a:t> common </a:t>
            </a:r>
            <a:r>
              <a:rPr lang="it-IT" dirty="0" err="1"/>
              <a:t>method</a:t>
            </a:r>
            <a:r>
              <a:rPr lang="it-IT" dirty="0"/>
              <a:t>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symmetric</a:t>
            </a:r>
            <a:r>
              <a:rPr lang="it-IT" dirty="0"/>
              <a:t>,  sensitive to the </a:t>
            </a:r>
            <a:r>
              <a:rPr lang="it-IT" dirty="0" err="1"/>
              <a:t>choice</a:t>
            </a:r>
            <a:r>
              <a:rPr lang="it-IT" dirty="0"/>
              <a:t> of baseline window. Log </a:t>
            </a:r>
            <a:r>
              <a:rPr lang="it-IT" dirty="0" err="1"/>
              <a:t>transform</a:t>
            </a:r>
            <a:r>
              <a:rPr lang="it-IT" dirty="0"/>
              <a:t> can </a:t>
            </a:r>
            <a:r>
              <a:rPr lang="it-IT" dirty="0" err="1"/>
              <a:t>amplify</a:t>
            </a:r>
            <a:r>
              <a:rPr lang="it-IT" dirty="0"/>
              <a:t> small baseline </a:t>
            </a:r>
            <a:r>
              <a:rPr lang="it-IT" dirty="0" err="1"/>
              <a:t>fluctuations</a:t>
            </a:r>
            <a:endParaRPr lang="it-IT" dirty="0"/>
          </a:p>
          <a:p>
            <a:pPr lvl="1"/>
            <a:r>
              <a:rPr lang="it-IT" dirty="0"/>
              <a:t>% </a:t>
            </a:r>
            <a:r>
              <a:rPr lang="it-IT" dirty="0" err="1"/>
              <a:t>change</a:t>
            </a:r>
            <a:r>
              <a:rPr lang="it-IT" dirty="0"/>
              <a:t>: (power – baseline) / baseline * 100.  </a:t>
            </a:r>
            <a:r>
              <a:rPr lang="it-IT" dirty="0" err="1"/>
              <a:t>It’s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symmetric</a:t>
            </a:r>
            <a:r>
              <a:rPr lang="it-IT" dirty="0"/>
              <a:t>. Can </a:t>
            </a:r>
            <a:r>
              <a:rPr lang="it-IT" dirty="0" err="1"/>
              <a:t>inflate</a:t>
            </a:r>
            <a:r>
              <a:rPr lang="it-IT" dirty="0"/>
              <a:t> high frequency </a:t>
            </a:r>
            <a:r>
              <a:rPr lang="it-IT" dirty="0" err="1"/>
              <a:t>differences</a:t>
            </a:r>
            <a:r>
              <a:rPr lang="it-IT" dirty="0"/>
              <a:t>. </a:t>
            </a:r>
          </a:p>
          <a:p>
            <a:pPr lvl="1"/>
            <a:r>
              <a:rPr lang="it-IT" dirty="0"/>
              <a:t>Z-score: (power – </a:t>
            </a:r>
            <a:r>
              <a:rPr lang="it-IT" dirty="0" err="1"/>
              <a:t>mean_baseline</a:t>
            </a:r>
            <a:r>
              <a:rPr lang="it-IT" dirty="0"/>
              <a:t>) / </a:t>
            </a:r>
            <a:r>
              <a:rPr lang="it-IT" dirty="0" err="1"/>
              <a:t>SD_baseline</a:t>
            </a:r>
            <a:r>
              <a:rPr lang="it-IT" dirty="0"/>
              <a:t>. Accounts for trial-to-trial </a:t>
            </a:r>
            <a:r>
              <a:rPr lang="it-IT" dirty="0" err="1"/>
              <a:t>variability</a:t>
            </a:r>
            <a:r>
              <a:rPr lang="it-IT" dirty="0"/>
              <a:t> in the baseline,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assumes</a:t>
            </a:r>
            <a:r>
              <a:rPr lang="it-IT" dirty="0"/>
              <a:t> </a:t>
            </a:r>
            <a:r>
              <a:rPr lang="it-IT" dirty="0" err="1"/>
              <a:t>normally</a:t>
            </a:r>
            <a:r>
              <a:rPr lang="it-IT" dirty="0"/>
              <a:t> </a:t>
            </a:r>
            <a:r>
              <a:rPr lang="it-IT" dirty="0" err="1"/>
              <a:t>distributed</a:t>
            </a:r>
            <a:r>
              <a:rPr lang="it-IT" dirty="0"/>
              <a:t> baseline power (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/>
              <a:t> the case).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78369261"/>
      </p:ext>
    </p:extLst>
  </p:cSld>
  <p:clrMapOvr>
    <a:masterClrMapping/>
  </p:clrMapOvr>
</p:sld>
</file>

<file path=ppt/theme/theme1.xml><?xml version="1.0" encoding="utf-8"?>
<a:theme xmlns:a="http://schemas.openxmlformats.org/drawingml/2006/main" name="Pacco">
  <a:themeElements>
    <a:clrScheme name="Pacco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c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co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Pacco</Template>
  <TotalTime>0</TotalTime>
  <Words>483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Pacco</vt:lpstr>
      <vt:lpstr>3 – From Waveforms to oscillations</vt:lpstr>
      <vt:lpstr>Why Frequencies</vt:lpstr>
      <vt:lpstr>Fourier Transform</vt:lpstr>
      <vt:lpstr>Time-frequency analysis</vt:lpstr>
      <vt:lpstr>Event-related spectral Perturbation (ERSP) and Inter-trial coherence (ITC)</vt:lpstr>
      <vt:lpstr>Baseline normalization in TF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Ettore Napoli</dc:creator>
  <cp:lastModifiedBy>Ettore Napoli</cp:lastModifiedBy>
  <cp:revision>1</cp:revision>
  <dcterms:created xsi:type="dcterms:W3CDTF">2026-03-03T09:17:52Z</dcterms:created>
  <dcterms:modified xsi:type="dcterms:W3CDTF">2026-03-03T10:04:55Z</dcterms:modified>
</cp:coreProperties>
</file>