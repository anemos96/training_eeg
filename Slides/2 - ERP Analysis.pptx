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58" r:id="rId4"/>
    <p:sldId id="257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30" d="100"/>
          <a:sy n="30" d="100"/>
        </p:scale>
        <p:origin x="198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D0C5-21A2-43D8-A922-2557E7DC40A1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CC96-64DC-4E35-97A2-E2E2F9156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8548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D0C5-21A2-43D8-A922-2557E7DC40A1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CC96-64DC-4E35-97A2-E2E2F9156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8437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D0C5-21A2-43D8-A922-2557E7DC40A1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CC96-64DC-4E35-97A2-E2E2F9156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0859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D0C5-21A2-43D8-A922-2557E7DC40A1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CC96-64DC-4E35-97A2-E2E2F9156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5600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D0C5-21A2-43D8-A922-2557E7DC40A1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CC96-64DC-4E35-97A2-E2E2F9156906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38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D0C5-21A2-43D8-A922-2557E7DC40A1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CC96-64DC-4E35-97A2-E2E2F9156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800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D0C5-21A2-43D8-A922-2557E7DC40A1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CC96-64DC-4E35-97A2-E2E2F9156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6323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D0C5-21A2-43D8-A922-2557E7DC40A1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CC96-64DC-4E35-97A2-E2E2F9156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429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49DD0C5-21A2-43D8-A922-2557E7DC40A1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CC96-64DC-4E35-97A2-E2E2F9156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0069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D0C5-21A2-43D8-A922-2557E7DC40A1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CC96-64DC-4E35-97A2-E2E2F9156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8346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DD0C5-21A2-43D8-A922-2557E7DC40A1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3CC96-64DC-4E35-97A2-E2E2F9156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4103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49DD0C5-21A2-43D8-A922-2557E7DC40A1}" type="datetimeFigureOut">
              <a:rPr lang="it-IT" smtClean="0"/>
              <a:t>03/03/2026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643CC96-64DC-4E35-97A2-E2E2F91569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0531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84501D-D9B0-5DEF-29D9-E3432AAD74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II - ERP Analysis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2EBB65C-B5AC-BB8C-C1F9-8719BFE516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9920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2DA8ED-93FF-417F-88BF-4133AE5B0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ERP?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80D9B2-5E91-26FC-27A7-0F43F853C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An Event-</a:t>
            </a:r>
            <a:r>
              <a:rPr lang="it-IT" dirty="0" err="1"/>
              <a:t>Related</a:t>
            </a:r>
            <a:r>
              <a:rPr lang="it-IT" dirty="0"/>
              <a:t> </a:t>
            </a:r>
            <a:r>
              <a:rPr lang="it-IT" dirty="0" err="1"/>
              <a:t>Potential</a:t>
            </a:r>
            <a:r>
              <a:rPr lang="it-IT" dirty="0"/>
              <a:t> (ERP)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brain’s</a:t>
            </a:r>
            <a:r>
              <a:rPr lang="it-IT" dirty="0"/>
              <a:t> </a:t>
            </a:r>
            <a:r>
              <a:rPr lang="it-IT" dirty="0" err="1"/>
              <a:t>electrical</a:t>
            </a:r>
            <a:r>
              <a:rPr lang="it-IT" dirty="0"/>
              <a:t> </a:t>
            </a:r>
            <a:r>
              <a:rPr lang="it-IT" dirty="0" err="1"/>
              <a:t>response</a:t>
            </a:r>
            <a:r>
              <a:rPr lang="it-IT" dirty="0"/>
              <a:t> time-</a:t>
            </a:r>
            <a:r>
              <a:rPr lang="it-IT" dirty="0" err="1"/>
              <a:t>locked</a:t>
            </a:r>
            <a:r>
              <a:rPr lang="it-IT" dirty="0"/>
              <a:t> to a </a:t>
            </a:r>
            <a:r>
              <a:rPr lang="it-IT" dirty="0" err="1"/>
              <a:t>specfic</a:t>
            </a:r>
            <a:r>
              <a:rPr lang="it-IT" dirty="0"/>
              <a:t> </a:t>
            </a:r>
            <a:r>
              <a:rPr lang="it-IT" dirty="0" err="1"/>
              <a:t>stimulus</a:t>
            </a:r>
            <a:r>
              <a:rPr lang="it-IT" dirty="0"/>
              <a:t> or cognitive event. </a:t>
            </a:r>
            <a:r>
              <a:rPr lang="it-IT" dirty="0" err="1"/>
              <a:t>ERPs</a:t>
            </a:r>
            <a:r>
              <a:rPr lang="it-IT" dirty="0"/>
              <a:t> are </a:t>
            </a:r>
            <a:r>
              <a:rPr lang="it-IT" dirty="0" err="1"/>
              <a:t>characterized</a:t>
            </a:r>
            <a:r>
              <a:rPr lang="it-IT" dirty="0"/>
              <a:t> by:</a:t>
            </a:r>
          </a:p>
          <a:p>
            <a:r>
              <a:rPr lang="it-IT" dirty="0" err="1"/>
              <a:t>Polarity</a:t>
            </a:r>
            <a:r>
              <a:rPr lang="it-IT" dirty="0"/>
              <a:t>: Negative (N) or Positive (P) </a:t>
            </a:r>
            <a:r>
              <a:rPr lang="it-IT" dirty="0" err="1"/>
              <a:t>voltage</a:t>
            </a:r>
            <a:r>
              <a:rPr lang="it-IT" dirty="0"/>
              <a:t> </a:t>
            </a:r>
            <a:r>
              <a:rPr lang="it-IT" dirty="0" err="1"/>
              <a:t>deflection</a:t>
            </a:r>
            <a:endParaRPr lang="it-IT" dirty="0"/>
          </a:p>
          <a:p>
            <a:r>
              <a:rPr lang="it-IT" dirty="0" err="1"/>
              <a:t>Latency</a:t>
            </a:r>
            <a:r>
              <a:rPr lang="it-IT" dirty="0"/>
              <a:t>: Time from </a:t>
            </a:r>
            <a:r>
              <a:rPr lang="it-IT" dirty="0" err="1"/>
              <a:t>stimulus</a:t>
            </a:r>
            <a:r>
              <a:rPr lang="it-IT" dirty="0"/>
              <a:t> </a:t>
            </a:r>
            <a:r>
              <a:rPr lang="it-IT" dirty="0" err="1"/>
              <a:t>onset</a:t>
            </a:r>
            <a:r>
              <a:rPr lang="it-IT" dirty="0"/>
              <a:t> to the </a:t>
            </a:r>
            <a:r>
              <a:rPr lang="it-IT" dirty="0" err="1"/>
              <a:t>peak</a:t>
            </a:r>
            <a:r>
              <a:rPr lang="it-IT" dirty="0"/>
              <a:t> of the component in ms. </a:t>
            </a:r>
          </a:p>
          <a:p>
            <a:r>
              <a:rPr lang="it-IT" dirty="0" err="1"/>
              <a:t>Amplitude</a:t>
            </a:r>
            <a:r>
              <a:rPr lang="it-IT" dirty="0"/>
              <a:t>: Voltage </a:t>
            </a:r>
            <a:r>
              <a:rPr lang="it-IT" dirty="0" err="1"/>
              <a:t>difference</a:t>
            </a:r>
            <a:r>
              <a:rPr lang="it-IT" dirty="0"/>
              <a:t> from baseline to </a:t>
            </a:r>
            <a:r>
              <a:rPr lang="it-IT" dirty="0" err="1"/>
              <a:t>peak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00222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A7B362-8CA2-DD69-59EB-24743B7F4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visual </a:t>
            </a:r>
            <a:r>
              <a:rPr lang="it-IT" dirty="0" err="1"/>
              <a:t>oddball</a:t>
            </a:r>
            <a:r>
              <a:rPr lang="it-IT" dirty="0"/>
              <a:t> task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2C88EA-E302-6080-455A-02E51A023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Paradigm</a:t>
            </a:r>
            <a:r>
              <a:rPr lang="it-IT" dirty="0"/>
              <a:t>: </a:t>
            </a:r>
            <a:r>
              <a:rPr lang="it-IT" dirty="0" err="1"/>
              <a:t>Subjects</a:t>
            </a:r>
            <a:r>
              <a:rPr lang="it-IT" dirty="0"/>
              <a:t> </a:t>
            </a:r>
            <a:r>
              <a:rPr lang="it-IT" dirty="0" err="1"/>
              <a:t>watch</a:t>
            </a:r>
            <a:r>
              <a:rPr lang="it-IT" dirty="0"/>
              <a:t> a stream of </a:t>
            </a:r>
            <a:r>
              <a:rPr lang="it-IT" dirty="0" err="1"/>
              <a:t>frequent</a:t>
            </a:r>
            <a:r>
              <a:rPr lang="it-IT" dirty="0"/>
              <a:t> «Standard» </a:t>
            </a:r>
            <a:r>
              <a:rPr lang="it-IT" dirty="0" err="1"/>
              <a:t>stimuli</a:t>
            </a:r>
            <a:r>
              <a:rPr lang="it-IT" dirty="0"/>
              <a:t> (e.g., 80% blue </a:t>
            </a:r>
            <a:r>
              <a:rPr lang="it-IT" dirty="0" err="1"/>
              <a:t>circles</a:t>
            </a:r>
            <a:r>
              <a:rPr lang="it-IT" dirty="0"/>
              <a:t>, </a:t>
            </a:r>
            <a:r>
              <a:rPr lang="it-IT" dirty="0" err="1"/>
              <a:t>ignored</a:t>
            </a:r>
            <a:r>
              <a:rPr lang="it-IT" dirty="0"/>
              <a:t>) and rare «Target» </a:t>
            </a:r>
            <a:r>
              <a:rPr lang="it-IT" dirty="0" err="1"/>
              <a:t>stimuli</a:t>
            </a:r>
            <a:r>
              <a:rPr lang="it-IT" dirty="0"/>
              <a:t> (e.g.,  20% red </a:t>
            </a:r>
            <a:r>
              <a:rPr lang="it-IT" dirty="0" err="1"/>
              <a:t>circles</a:t>
            </a:r>
            <a:r>
              <a:rPr lang="it-IT" dirty="0"/>
              <a:t>, </a:t>
            </a:r>
            <a:r>
              <a:rPr lang="it-IT" dirty="0" err="1"/>
              <a:t>actively</a:t>
            </a:r>
            <a:r>
              <a:rPr lang="it-IT" dirty="0"/>
              <a:t> </a:t>
            </a:r>
            <a:r>
              <a:rPr lang="it-IT" dirty="0" err="1"/>
              <a:t>counted</a:t>
            </a:r>
            <a:r>
              <a:rPr lang="it-IT" dirty="0"/>
              <a:t>). </a:t>
            </a:r>
          </a:p>
          <a:p>
            <a:r>
              <a:rPr lang="it-IT" dirty="0"/>
              <a:t>The </a:t>
            </a:r>
            <a:r>
              <a:rPr lang="it-IT" dirty="0" err="1"/>
              <a:t>Result</a:t>
            </a:r>
            <a:r>
              <a:rPr lang="it-IT" dirty="0"/>
              <a:t>:  </a:t>
            </a:r>
            <a:r>
              <a:rPr lang="it-IT" dirty="0" err="1"/>
              <a:t>Averaging</a:t>
            </a:r>
            <a:r>
              <a:rPr lang="it-IT" dirty="0"/>
              <a:t> the Target </a:t>
            </a:r>
            <a:r>
              <a:rPr lang="it-IT" dirty="0" err="1"/>
              <a:t>epochs</a:t>
            </a:r>
            <a:r>
              <a:rPr lang="it-IT" dirty="0"/>
              <a:t> </a:t>
            </a:r>
            <a:r>
              <a:rPr lang="it-IT" dirty="0" err="1"/>
              <a:t>reveals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P1 : </a:t>
            </a:r>
            <a:r>
              <a:rPr lang="it-IT" dirty="0" err="1"/>
              <a:t>Occipital</a:t>
            </a:r>
            <a:r>
              <a:rPr lang="it-IT" dirty="0"/>
              <a:t> positive </a:t>
            </a:r>
            <a:r>
              <a:rPr lang="it-IT" dirty="0" err="1"/>
              <a:t>deflection</a:t>
            </a:r>
            <a:r>
              <a:rPr lang="it-IT" dirty="0"/>
              <a:t> (~ 100 </a:t>
            </a:r>
            <a:r>
              <a:rPr lang="it-IT" dirty="0" err="1"/>
              <a:t>ms</a:t>
            </a:r>
            <a:r>
              <a:rPr lang="it-IT" dirty="0"/>
              <a:t> after </a:t>
            </a:r>
            <a:r>
              <a:rPr lang="it-IT" dirty="0" err="1"/>
              <a:t>stimulus</a:t>
            </a:r>
            <a:r>
              <a:rPr lang="it-IT" dirty="0"/>
              <a:t> </a:t>
            </a:r>
            <a:r>
              <a:rPr lang="it-IT" dirty="0" err="1"/>
              <a:t>onset</a:t>
            </a:r>
            <a:r>
              <a:rPr lang="it-IT" dirty="0"/>
              <a:t>). </a:t>
            </a:r>
            <a:r>
              <a:rPr lang="it-IT" dirty="0" err="1"/>
              <a:t>Early</a:t>
            </a:r>
            <a:r>
              <a:rPr lang="it-IT" dirty="0"/>
              <a:t> visual </a:t>
            </a:r>
            <a:r>
              <a:rPr lang="it-IT" dirty="0" err="1"/>
              <a:t>cortex</a:t>
            </a:r>
            <a:r>
              <a:rPr lang="it-IT" dirty="0"/>
              <a:t> </a:t>
            </a:r>
            <a:r>
              <a:rPr lang="it-IT" dirty="0" err="1"/>
              <a:t>response</a:t>
            </a:r>
            <a:endParaRPr lang="it-IT" dirty="0"/>
          </a:p>
          <a:p>
            <a:pPr lvl="1"/>
            <a:r>
              <a:rPr lang="it-IT" dirty="0"/>
              <a:t>P300: </a:t>
            </a:r>
            <a:r>
              <a:rPr lang="it-IT" dirty="0" err="1"/>
              <a:t>Cemtro-parietal</a:t>
            </a:r>
            <a:r>
              <a:rPr lang="it-IT" dirty="0"/>
              <a:t> positive </a:t>
            </a:r>
            <a:r>
              <a:rPr lang="it-IT" dirty="0" err="1"/>
              <a:t>deflection</a:t>
            </a:r>
            <a:r>
              <a:rPr lang="it-IT" dirty="0"/>
              <a:t> (~ 300-550 </a:t>
            </a:r>
            <a:r>
              <a:rPr lang="it-IT" dirty="0" err="1"/>
              <a:t>ms</a:t>
            </a:r>
            <a:r>
              <a:rPr lang="it-IT" dirty="0"/>
              <a:t> after </a:t>
            </a:r>
            <a:r>
              <a:rPr lang="it-IT" dirty="0" err="1"/>
              <a:t>stimulus</a:t>
            </a:r>
            <a:r>
              <a:rPr lang="it-IT" dirty="0"/>
              <a:t> </a:t>
            </a:r>
            <a:r>
              <a:rPr lang="it-IT" dirty="0" err="1"/>
              <a:t>onset</a:t>
            </a:r>
            <a:r>
              <a:rPr lang="it-IT" dirty="0"/>
              <a:t>). </a:t>
            </a:r>
            <a:r>
              <a:rPr lang="it-IT" dirty="0" err="1"/>
              <a:t>Context</a:t>
            </a:r>
            <a:r>
              <a:rPr lang="it-IT" dirty="0"/>
              <a:t> </a:t>
            </a:r>
            <a:r>
              <a:rPr lang="it-IT" dirty="0" err="1"/>
              <a:t>updating</a:t>
            </a:r>
            <a:r>
              <a:rPr lang="it-IT" dirty="0"/>
              <a:t> and </a:t>
            </a:r>
            <a:r>
              <a:rPr lang="it-IT" dirty="0" err="1"/>
              <a:t>attentional</a:t>
            </a:r>
            <a:r>
              <a:rPr lang="it-IT" dirty="0"/>
              <a:t> </a:t>
            </a:r>
            <a:r>
              <a:rPr lang="it-IT" dirty="0" err="1"/>
              <a:t>resource</a:t>
            </a:r>
            <a:r>
              <a:rPr lang="it-IT" dirty="0"/>
              <a:t> </a:t>
            </a:r>
            <a:r>
              <a:rPr lang="it-IT" dirty="0" err="1"/>
              <a:t>allocation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32463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65774B-E6F3-5DA1-B0E3-2797A861A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Averaging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8573CB-1DF3-F29D-5391-23648D1D1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Problem</a:t>
            </a:r>
            <a:r>
              <a:rPr lang="it-IT" dirty="0"/>
              <a:t>: A single </a:t>
            </a:r>
            <a:r>
              <a:rPr lang="it-IT" dirty="0" err="1"/>
              <a:t>epoch</a:t>
            </a:r>
            <a:r>
              <a:rPr lang="it-IT" dirty="0"/>
              <a:t> </a:t>
            </a:r>
            <a:r>
              <a:rPr lang="it-IT" dirty="0" err="1"/>
              <a:t>contains</a:t>
            </a:r>
            <a:r>
              <a:rPr lang="it-IT" dirty="0"/>
              <a:t> </a:t>
            </a:r>
            <a:r>
              <a:rPr lang="it-IT" dirty="0" err="1"/>
              <a:t>our</a:t>
            </a:r>
            <a:r>
              <a:rPr lang="it-IT" dirty="0"/>
              <a:t> </a:t>
            </a:r>
            <a:r>
              <a:rPr lang="it-IT" dirty="0" err="1"/>
              <a:t>signal</a:t>
            </a:r>
            <a:r>
              <a:rPr lang="it-IT" dirty="0"/>
              <a:t> of </a:t>
            </a:r>
            <a:r>
              <a:rPr lang="it-IT" dirty="0" err="1"/>
              <a:t>interest</a:t>
            </a:r>
            <a:r>
              <a:rPr lang="it-IT" dirty="0"/>
              <a:t> </a:t>
            </a:r>
            <a:r>
              <a:rPr lang="it-IT" dirty="0" err="1"/>
              <a:t>buried</a:t>
            </a:r>
            <a:r>
              <a:rPr lang="it-IT" dirty="0"/>
              <a:t> under background </a:t>
            </a:r>
            <a:r>
              <a:rPr lang="it-IT" dirty="0" err="1"/>
              <a:t>neural</a:t>
            </a:r>
            <a:r>
              <a:rPr lang="it-IT" dirty="0"/>
              <a:t> </a:t>
            </a:r>
            <a:r>
              <a:rPr lang="it-IT" dirty="0" err="1"/>
              <a:t>noise</a:t>
            </a:r>
            <a:r>
              <a:rPr lang="it-IT" dirty="0"/>
              <a:t>. </a:t>
            </a:r>
          </a:p>
          <a:p>
            <a:r>
              <a:rPr lang="it-IT" dirty="0"/>
              <a:t>The Solution: </a:t>
            </a:r>
            <a:r>
              <a:rPr lang="it-IT" dirty="0" err="1"/>
              <a:t>Averaging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epochs</a:t>
            </a:r>
            <a:r>
              <a:rPr lang="it-IT" dirty="0"/>
              <a:t> </a:t>
            </a:r>
            <a:r>
              <a:rPr lang="it-IT" dirty="0" err="1"/>
              <a:t>within</a:t>
            </a:r>
            <a:r>
              <a:rPr lang="it-IT" dirty="0"/>
              <a:t> the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condition</a:t>
            </a:r>
            <a:r>
              <a:rPr lang="it-IT" dirty="0"/>
              <a:t> </a:t>
            </a:r>
            <a:r>
              <a:rPr lang="it-IT" dirty="0" err="1"/>
              <a:t>allows</a:t>
            </a:r>
            <a:r>
              <a:rPr lang="it-IT" dirty="0"/>
              <a:t> </a:t>
            </a:r>
            <a:r>
              <a:rPr lang="it-IT" dirty="0" err="1"/>
              <a:t>us</a:t>
            </a:r>
            <a:r>
              <a:rPr lang="it-IT" dirty="0"/>
              <a:t> to </a:t>
            </a:r>
            <a:r>
              <a:rPr lang="it-IT" dirty="0" err="1"/>
              <a:t>cancel</a:t>
            </a:r>
            <a:r>
              <a:rPr lang="it-IT" dirty="0"/>
              <a:t> random background </a:t>
            </a:r>
            <a:r>
              <a:rPr lang="it-IT" dirty="0" err="1"/>
              <a:t>noise</a:t>
            </a:r>
            <a:r>
              <a:rPr lang="it-IT" dirty="0"/>
              <a:t>, </a:t>
            </a:r>
            <a:r>
              <a:rPr lang="it-IT" dirty="0" err="1"/>
              <a:t>while</a:t>
            </a:r>
            <a:r>
              <a:rPr lang="it-IT" dirty="0"/>
              <a:t> the </a:t>
            </a:r>
            <a:r>
              <a:rPr lang="it-IT" dirty="0" err="1"/>
              <a:t>brain’s</a:t>
            </a:r>
            <a:r>
              <a:rPr lang="it-IT" dirty="0"/>
              <a:t> </a:t>
            </a:r>
            <a:r>
              <a:rPr lang="it-IT" dirty="0" err="1"/>
              <a:t>consistent</a:t>
            </a:r>
            <a:r>
              <a:rPr lang="it-IT" dirty="0"/>
              <a:t>, time-</a:t>
            </a:r>
            <a:r>
              <a:rPr lang="it-IT" dirty="0" err="1"/>
              <a:t>locked</a:t>
            </a:r>
            <a:r>
              <a:rPr lang="it-IT" dirty="0"/>
              <a:t> </a:t>
            </a:r>
            <a:r>
              <a:rPr lang="it-IT" dirty="0" err="1"/>
              <a:t>response</a:t>
            </a:r>
            <a:r>
              <a:rPr lang="it-IT" dirty="0"/>
              <a:t> </a:t>
            </a:r>
            <a:r>
              <a:rPr lang="it-IT" dirty="0" err="1"/>
              <a:t>emerges</a:t>
            </a:r>
            <a:r>
              <a:rPr lang="it-IT" dirty="0"/>
              <a:t>. </a:t>
            </a:r>
          </a:p>
          <a:p>
            <a:r>
              <a:rPr lang="it-IT" dirty="0"/>
              <a:t>The Rule of </a:t>
            </a:r>
            <a:r>
              <a:rPr lang="it-IT" dirty="0" err="1"/>
              <a:t>Thumb</a:t>
            </a:r>
            <a:r>
              <a:rPr lang="it-IT" dirty="0"/>
              <a:t>: To </a:t>
            </a:r>
            <a:r>
              <a:rPr lang="it-IT" dirty="0" err="1"/>
              <a:t>get</a:t>
            </a:r>
            <a:r>
              <a:rPr lang="it-IT" dirty="0"/>
              <a:t> a </a:t>
            </a:r>
            <a:r>
              <a:rPr lang="it-IT" dirty="0" err="1"/>
              <a:t>reliable</a:t>
            </a:r>
            <a:r>
              <a:rPr lang="it-IT" dirty="0"/>
              <a:t> ERP,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need</a:t>
            </a:r>
            <a:r>
              <a:rPr lang="it-IT" dirty="0"/>
              <a:t>:</a:t>
            </a:r>
          </a:p>
          <a:p>
            <a:pPr lvl="1"/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least</a:t>
            </a:r>
            <a:r>
              <a:rPr lang="it-IT" dirty="0"/>
              <a:t> 30 </a:t>
            </a:r>
            <a:r>
              <a:rPr lang="it-IT" dirty="0" err="1"/>
              <a:t>epochs</a:t>
            </a:r>
            <a:r>
              <a:rPr lang="it-IT" dirty="0"/>
              <a:t> per </a:t>
            </a:r>
            <a:r>
              <a:rPr lang="it-IT" dirty="0" err="1"/>
              <a:t>condition</a:t>
            </a:r>
            <a:r>
              <a:rPr lang="it-IT" dirty="0"/>
              <a:t> after </a:t>
            </a:r>
            <a:r>
              <a:rPr lang="it-IT" dirty="0" err="1"/>
              <a:t>rejection</a:t>
            </a:r>
            <a:r>
              <a:rPr lang="it-IT" dirty="0"/>
              <a:t> (the more the </a:t>
            </a:r>
            <a:r>
              <a:rPr lang="it-IT" dirty="0" err="1"/>
              <a:t>better</a:t>
            </a:r>
            <a:r>
              <a:rPr lang="it-IT" dirty="0"/>
              <a:t>). </a:t>
            </a:r>
          </a:p>
          <a:p>
            <a:pPr lvl="1"/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number</a:t>
            </a:r>
            <a:r>
              <a:rPr lang="it-IT" dirty="0"/>
              <a:t> of trials per </a:t>
            </a:r>
            <a:r>
              <a:rPr lang="it-IT" dirty="0" err="1"/>
              <a:t>condition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comparing</a:t>
            </a:r>
            <a:r>
              <a:rPr lang="it-IT" dirty="0"/>
              <a:t> </a:t>
            </a:r>
            <a:r>
              <a:rPr lang="it-IT" dirty="0" err="1"/>
              <a:t>conditions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</a:t>
            </a:r>
            <a:r>
              <a:rPr lang="it-IT" dirty="0" err="1"/>
              <a:t>subjects</a:t>
            </a:r>
            <a:r>
              <a:rPr lang="it-IT" dirty="0"/>
              <a:t> to </a:t>
            </a:r>
            <a:r>
              <a:rPr lang="it-IT" dirty="0" err="1"/>
              <a:t>avoid</a:t>
            </a:r>
            <a:r>
              <a:rPr lang="it-IT" dirty="0"/>
              <a:t> SNR </a:t>
            </a:r>
            <a:r>
              <a:rPr lang="it-IT" dirty="0" err="1"/>
              <a:t>confounds</a:t>
            </a:r>
            <a:r>
              <a:rPr lang="it-IT" dirty="0"/>
              <a:t>. </a:t>
            </a:r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52741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CBA74D-7347-1220-7293-19714E3B2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Measuring</a:t>
            </a:r>
            <a:r>
              <a:rPr lang="it-IT" dirty="0"/>
              <a:t> ERP </a:t>
            </a:r>
            <a:r>
              <a:rPr lang="it-IT" dirty="0" err="1"/>
              <a:t>components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10C5CA-DD27-65AF-9E65-8549DFCEA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 err="1"/>
              <a:t>There</a:t>
            </a:r>
            <a:r>
              <a:rPr lang="it-IT" dirty="0"/>
              <a:t> can be </a:t>
            </a:r>
            <a:r>
              <a:rPr lang="it-IT" dirty="0" err="1"/>
              <a:t>three</a:t>
            </a:r>
            <a:r>
              <a:rPr lang="it-IT" dirty="0"/>
              <a:t>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approaches</a:t>
            </a:r>
            <a:endParaRPr lang="it-IT" dirty="0"/>
          </a:p>
          <a:p>
            <a:r>
              <a:rPr lang="it-IT" dirty="0"/>
              <a:t>Peak </a:t>
            </a:r>
            <a:r>
              <a:rPr lang="it-IT" dirty="0" err="1"/>
              <a:t>Amplitude</a:t>
            </a:r>
            <a:r>
              <a:rPr lang="it-IT" dirty="0"/>
              <a:t> and </a:t>
            </a:r>
            <a:r>
              <a:rPr lang="it-IT" dirty="0" err="1"/>
              <a:t>Latency</a:t>
            </a:r>
            <a:r>
              <a:rPr lang="it-IT" dirty="0"/>
              <a:t>: </a:t>
            </a:r>
            <a:r>
              <a:rPr lang="it-IT" dirty="0" err="1"/>
              <a:t>Find</a:t>
            </a:r>
            <a:r>
              <a:rPr lang="it-IT" dirty="0"/>
              <a:t> the maximum or minimum </a:t>
            </a:r>
            <a:r>
              <a:rPr lang="it-IT" dirty="0" err="1"/>
              <a:t>value</a:t>
            </a:r>
            <a:r>
              <a:rPr lang="it-IT" dirty="0"/>
              <a:t> </a:t>
            </a:r>
            <a:r>
              <a:rPr lang="it-IT" dirty="0" err="1"/>
              <a:t>within</a:t>
            </a:r>
            <a:r>
              <a:rPr lang="it-IT" dirty="0"/>
              <a:t> a </a:t>
            </a:r>
            <a:r>
              <a:rPr lang="it-IT" dirty="0" err="1"/>
              <a:t>predifined</a:t>
            </a:r>
            <a:r>
              <a:rPr lang="it-IT" dirty="0"/>
              <a:t> time window.</a:t>
            </a:r>
          </a:p>
          <a:p>
            <a:r>
              <a:rPr lang="it-IT" dirty="0"/>
              <a:t>Mean </a:t>
            </a:r>
            <a:r>
              <a:rPr lang="it-IT" dirty="0" err="1"/>
              <a:t>Amplitude</a:t>
            </a:r>
            <a:r>
              <a:rPr lang="it-IT" dirty="0"/>
              <a:t>: </a:t>
            </a:r>
            <a:r>
              <a:rPr lang="it-IT" dirty="0" err="1"/>
              <a:t>Average</a:t>
            </a:r>
            <a:r>
              <a:rPr lang="it-IT" dirty="0"/>
              <a:t> the </a:t>
            </a:r>
            <a:r>
              <a:rPr lang="it-IT" dirty="0" err="1"/>
              <a:t>voltage</a:t>
            </a:r>
            <a:r>
              <a:rPr lang="it-IT" dirty="0"/>
              <a:t> </a:t>
            </a:r>
            <a:r>
              <a:rPr lang="it-IT" dirty="0" err="1"/>
              <a:t>across</a:t>
            </a:r>
            <a:r>
              <a:rPr lang="it-IT" dirty="0"/>
              <a:t> a time window </a:t>
            </a:r>
            <a:r>
              <a:rPr lang="it-IT" dirty="0" err="1"/>
              <a:t>centered</a:t>
            </a:r>
            <a:r>
              <a:rPr lang="it-IT" dirty="0"/>
              <a:t> on the component. More </a:t>
            </a:r>
            <a:r>
              <a:rPr lang="it-IT" dirty="0" err="1"/>
              <a:t>stable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peak</a:t>
            </a:r>
            <a:r>
              <a:rPr lang="it-IT" dirty="0"/>
              <a:t> </a:t>
            </a:r>
            <a:r>
              <a:rPr lang="it-IT" dirty="0" err="1"/>
              <a:t>measures</a:t>
            </a:r>
            <a:r>
              <a:rPr lang="it-IT" dirty="0"/>
              <a:t> </a:t>
            </a:r>
            <a:r>
              <a:rPr lang="it-IT" dirty="0" err="1"/>
              <a:t>because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less</a:t>
            </a:r>
            <a:r>
              <a:rPr lang="it-IT" dirty="0"/>
              <a:t> sensitive to single-point </a:t>
            </a:r>
            <a:r>
              <a:rPr lang="it-IT" dirty="0" err="1"/>
              <a:t>noise</a:t>
            </a:r>
            <a:r>
              <a:rPr lang="it-IT" dirty="0"/>
              <a:t>. </a:t>
            </a:r>
          </a:p>
          <a:p>
            <a:r>
              <a:rPr lang="it-IT" dirty="0"/>
              <a:t>Area Under the Curve: </a:t>
            </a:r>
            <a:r>
              <a:rPr lang="it-IT" dirty="0" err="1"/>
              <a:t>Capturse</a:t>
            </a:r>
            <a:r>
              <a:rPr lang="it-IT" dirty="0"/>
              <a:t> </a:t>
            </a:r>
            <a:r>
              <a:rPr lang="it-IT" dirty="0" err="1"/>
              <a:t>total</a:t>
            </a:r>
            <a:r>
              <a:rPr lang="it-IT" dirty="0"/>
              <a:t> </a:t>
            </a:r>
            <a:r>
              <a:rPr lang="it-IT" dirty="0" err="1"/>
              <a:t>response</a:t>
            </a:r>
            <a:r>
              <a:rPr lang="it-IT" dirty="0"/>
              <a:t> energy </a:t>
            </a:r>
            <a:r>
              <a:rPr lang="it-IT" dirty="0" err="1"/>
              <a:t>rather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just the </a:t>
            </a:r>
            <a:r>
              <a:rPr lang="it-IT" dirty="0" err="1"/>
              <a:t>peak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13501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866D7F-62C4-9901-C1E8-3E81DD1F8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latency</a:t>
            </a:r>
            <a:r>
              <a:rPr lang="it-IT" dirty="0"/>
              <a:t> jitter </a:t>
            </a:r>
            <a:r>
              <a:rPr lang="it-IT" dirty="0" err="1"/>
              <a:t>problem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5FF58EE-F3B7-25E8-B4AA-4C7A6D72E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Problem</a:t>
            </a:r>
            <a:r>
              <a:rPr lang="it-IT" dirty="0"/>
              <a:t>: On </a:t>
            </a:r>
            <a:r>
              <a:rPr lang="it-IT" dirty="0" err="1"/>
              <a:t>individual</a:t>
            </a:r>
            <a:r>
              <a:rPr lang="it-IT" dirty="0"/>
              <a:t> trials, the </a:t>
            </a:r>
            <a:r>
              <a:rPr lang="it-IT" dirty="0" err="1"/>
              <a:t>peak</a:t>
            </a:r>
            <a:r>
              <a:rPr lang="it-IT" dirty="0"/>
              <a:t> of a component </a:t>
            </a:r>
            <a:r>
              <a:rPr lang="it-IT" dirty="0" err="1"/>
              <a:t>doesn’t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</a:t>
            </a:r>
            <a:r>
              <a:rPr lang="it-IT" dirty="0" err="1"/>
              <a:t>occur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exactly</a:t>
            </a:r>
            <a:r>
              <a:rPr lang="it-IT" dirty="0"/>
              <a:t> the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latency</a:t>
            </a:r>
            <a:r>
              <a:rPr lang="it-IT" dirty="0"/>
              <a:t>. </a:t>
            </a:r>
            <a:r>
              <a:rPr lang="it-IT" dirty="0" err="1"/>
              <a:t>Thus</a:t>
            </a:r>
            <a:r>
              <a:rPr lang="it-IT" dirty="0"/>
              <a:t>,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averaging</a:t>
            </a:r>
            <a:r>
              <a:rPr lang="it-IT" dirty="0"/>
              <a:t>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misaligned</a:t>
            </a:r>
            <a:r>
              <a:rPr lang="it-IT" dirty="0"/>
              <a:t> </a:t>
            </a:r>
            <a:r>
              <a:rPr lang="it-IT" dirty="0" err="1"/>
              <a:t>peaks</a:t>
            </a:r>
            <a:r>
              <a:rPr lang="it-IT" dirty="0"/>
              <a:t>, </a:t>
            </a:r>
            <a:r>
              <a:rPr lang="it-IT" dirty="0" err="1"/>
              <a:t>they</a:t>
            </a:r>
            <a:r>
              <a:rPr lang="it-IT" dirty="0"/>
              <a:t> </a:t>
            </a:r>
            <a:r>
              <a:rPr lang="it-IT" dirty="0" err="1"/>
              <a:t>don’t</a:t>
            </a:r>
            <a:r>
              <a:rPr lang="it-IT" dirty="0"/>
              <a:t> </a:t>
            </a:r>
            <a:r>
              <a:rPr lang="it-IT" dirty="0" err="1"/>
              <a:t>add</a:t>
            </a:r>
            <a:r>
              <a:rPr lang="it-IT" dirty="0"/>
              <a:t> </a:t>
            </a:r>
            <a:r>
              <a:rPr lang="it-IT" dirty="0" err="1"/>
              <a:t>constructively</a:t>
            </a:r>
            <a:r>
              <a:rPr lang="it-IT" dirty="0"/>
              <a:t>, </a:t>
            </a:r>
            <a:r>
              <a:rPr lang="it-IT" dirty="0" err="1"/>
              <a:t>producing</a:t>
            </a:r>
            <a:r>
              <a:rPr lang="it-IT" dirty="0"/>
              <a:t> a </a:t>
            </a:r>
            <a:r>
              <a:rPr lang="it-IT" dirty="0" err="1"/>
              <a:t>lower</a:t>
            </a:r>
            <a:r>
              <a:rPr lang="it-IT" dirty="0"/>
              <a:t> and </a:t>
            </a:r>
            <a:r>
              <a:rPr lang="it-IT" dirty="0" err="1"/>
              <a:t>broader</a:t>
            </a:r>
            <a:r>
              <a:rPr lang="it-IT" dirty="0"/>
              <a:t> </a:t>
            </a:r>
            <a:r>
              <a:rPr lang="it-IT" dirty="0" err="1"/>
              <a:t>waveform</a:t>
            </a:r>
            <a:r>
              <a:rPr lang="it-IT" dirty="0"/>
              <a:t>.</a:t>
            </a:r>
          </a:p>
          <a:p>
            <a:r>
              <a:rPr lang="it-IT" dirty="0"/>
              <a:t>The Solutions: Single-trial </a:t>
            </a:r>
            <a:r>
              <a:rPr lang="it-IT" dirty="0" err="1"/>
              <a:t>analysis</a:t>
            </a:r>
            <a:r>
              <a:rPr lang="it-IT" dirty="0"/>
              <a:t>; </a:t>
            </a:r>
            <a:r>
              <a:rPr lang="it-IT" dirty="0" err="1"/>
              <a:t>peak</a:t>
            </a:r>
            <a:r>
              <a:rPr lang="it-IT" dirty="0"/>
              <a:t> </a:t>
            </a:r>
            <a:r>
              <a:rPr lang="it-IT" dirty="0" err="1"/>
              <a:t>latency</a:t>
            </a:r>
            <a:r>
              <a:rPr lang="it-IT" dirty="0"/>
              <a:t> per </a:t>
            </a:r>
            <a:r>
              <a:rPr lang="it-IT" dirty="0" err="1"/>
              <a:t>subject</a:t>
            </a:r>
            <a:r>
              <a:rPr lang="it-IT" dirty="0"/>
              <a:t> </a:t>
            </a:r>
            <a:r>
              <a:rPr lang="it-IT" dirty="0" err="1"/>
              <a:t>before</a:t>
            </a:r>
            <a:r>
              <a:rPr lang="it-IT" dirty="0"/>
              <a:t> group </a:t>
            </a:r>
            <a:r>
              <a:rPr lang="it-IT" dirty="0" err="1"/>
              <a:t>averaging</a:t>
            </a:r>
            <a:r>
              <a:rPr lang="it-IT" dirty="0"/>
              <a:t>; time-frequency </a:t>
            </a:r>
            <a:r>
              <a:rPr lang="it-IT" dirty="0" err="1"/>
              <a:t>decomposition</a:t>
            </a:r>
            <a:r>
              <a:rPr lang="it-IT"/>
              <a:t>.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68469475"/>
      </p:ext>
    </p:extLst>
  </p:cSld>
  <p:clrMapOvr>
    <a:masterClrMapping/>
  </p:clrMapOvr>
</p:sld>
</file>

<file path=ppt/theme/theme1.xml><?xml version="1.0" encoding="utf-8"?>
<a:theme xmlns:a="http://schemas.openxmlformats.org/drawingml/2006/main" name="Pacco">
  <a:themeElements>
    <a:clrScheme name="Pacco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cc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co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Pacco</Template>
  <TotalTime>0</TotalTime>
  <Words>385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Pacco</vt:lpstr>
      <vt:lpstr>II - ERP Analysis</vt:lpstr>
      <vt:lpstr>What is an ERP?</vt:lpstr>
      <vt:lpstr>The visual oddball task</vt:lpstr>
      <vt:lpstr>Averaging</vt:lpstr>
      <vt:lpstr>Measuring ERP components</vt:lpstr>
      <vt:lpstr>The latency jitter 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Ettore Napoli</dc:creator>
  <cp:lastModifiedBy>Ettore Napoli</cp:lastModifiedBy>
  <cp:revision>2</cp:revision>
  <dcterms:created xsi:type="dcterms:W3CDTF">2026-03-02T07:29:36Z</dcterms:created>
  <dcterms:modified xsi:type="dcterms:W3CDTF">2026-03-03T09:15:48Z</dcterms:modified>
</cp:coreProperties>
</file>